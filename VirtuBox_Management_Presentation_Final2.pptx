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961120" y="640080"/>
            <a:ext cx="502920" cy="53949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738360" y="640080"/>
            <a:ext cx="502920" cy="539496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515600" y="640080"/>
            <a:ext cx="502920" cy="539496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7315200" cy="1234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Aptos"/>
              </a:defRPr>
            </a:pPr>
            <a:r>
              <a:t>Brazilian E-Commerce</a:t>
            </a:r>
            <a:br/>
            <a:r>
              <a:t>Business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487168"/>
            <a:ext cx="694944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700" b="1">
                <a:solidFill>
                  <a:srgbClr val="06B6D4"/>
                </a:solidFill>
                <a:latin typeface="Aptos"/>
              </a:defRPr>
            </a:pPr>
            <a:r>
              <a:t>Data Analyst Assessment | Olist Public 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127248"/>
            <a:ext cx="68580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900" b="0">
                <a:solidFill>
                  <a:srgbClr val="CBD5E1"/>
                </a:solidFill>
                <a:latin typeface="Aptos"/>
              </a:defRPr>
            </a:pPr>
            <a:r>
              <a:t>Revenue • Customer Satisfaction • Delivery Performance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4617720"/>
            <a:ext cx="2148840" cy="1051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8" y="4617720"/>
            <a:ext cx="64008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7" y="4754880"/>
            <a:ext cx="17373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1">
                <a:solidFill>
                  <a:srgbClr val="CBD5E1"/>
                </a:solidFill>
                <a:latin typeface="Aptos"/>
              </a:defRPr>
            </a:pPr>
            <a:r>
              <a:t>DATASET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7" y="5102352"/>
            <a:ext cx="173736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200" b="1">
                <a:solidFill>
                  <a:srgbClr val="F8FAFC"/>
                </a:solidFill>
                <a:latin typeface="Aptos"/>
              </a:defRPr>
            </a:pPr>
            <a:r>
              <a:t>100K orders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08960" y="4617720"/>
            <a:ext cx="2148840" cy="1051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108960" y="4617720"/>
            <a:ext cx="64008" cy="10515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4754880"/>
            <a:ext cx="17373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1">
                <a:solidFill>
                  <a:srgbClr val="CBD5E1"/>
                </a:solidFill>
                <a:latin typeface="Aptos"/>
              </a:defRPr>
            </a:pPr>
            <a:r>
              <a:t>FOCUS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5102352"/>
            <a:ext cx="173736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200" b="1">
                <a:solidFill>
                  <a:srgbClr val="F8FAFC"/>
                </a:solidFill>
                <a:latin typeface="Aptos"/>
              </a:defRPr>
            </a:pPr>
            <a:r>
              <a:t>Business insights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68112" y="4617720"/>
            <a:ext cx="2148840" cy="1051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68112" y="4617720"/>
            <a:ext cx="64008" cy="10515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96712" y="4754880"/>
            <a:ext cx="17373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1">
                <a:solidFill>
                  <a:srgbClr val="CBD5E1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96712" y="5102352"/>
            <a:ext cx="173736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200" b="1">
                <a:solidFill>
                  <a:srgbClr val="F8FAFC"/>
                </a:solidFill>
                <a:latin typeface="Aptos"/>
              </a:defRPr>
            </a:pPr>
            <a:r>
              <a:t>Looker Studio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700" b="1">
                <a:solidFill>
                  <a:srgbClr val="F8FAFC"/>
                </a:solidFill>
                <a:latin typeface="Aptos"/>
              </a:defRPr>
            </a:pPr>
            <a:r>
              <a:t>Business Problem &amp; Key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69848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Aptos"/>
              </a:defRPr>
            </a:pPr>
            <a:r>
              <a:t>Turning transaction data into management decisions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44752"/>
            <a:ext cx="3520440" cy="45262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44752"/>
            <a:ext cx="64008" cy="4526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81912"/>
            <a:ext cx="31089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1">
                <a:solidFill>
                  <a:srgbClr val="CBD5E1"/>
                </a:solidFill>
                <a:latin typeface="Aptos"/>
              </a:defRPr>
            </a:pPr>
            <a:r>
              <a:t>BUSINESS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75104"/>
            <a:ext cx="3108960" cy="38587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Aptos"/>
              </a:defRPr>
            </a:pPr>
            <a:r>
              <a:t>Understand the main revenue drivers and identify operational issues that may affect customer experience and business performance.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444752"/>
            <a:ext cx="6903720" cy="84124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6280" y="1444752"/>
            <a:ext cx="64008" cy="84124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1581912"/>
            <a:ext cx="64922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1">
                <a:solidFill>
                  <a:srgbClr val="CBD5E1"/>
                </a:solidFill>
                <a:latin typeface="Aptos"/>
              </a:defRPr>
            </a:pPr>
            <a:r>
              <a:t>QUESTION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975104"/>
            <a:ext cx="6492240" cy="173735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Aptos"/>
              </a:defRPr>
            </a:pPr>
            <a:r>
              <a:t>Which product categories generate the most revenue?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80" y="2523744"/>
            <a:ext cx="6903720" cy="84124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26280" y="2523744"/>
            <a:ext cx="64008" cy="84124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2660903"/>
            <a:ext cx="64922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1">
                <a:solidFill>
                  <a:srgbClr val="CBD5E1"/>
                </a:solidFill>
                <a:latin typeface="Aptos"/>
              </a:defRPr>
            </a:pPr>
            <a:r>
              <a:t>QUESTION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054096"/>
            <a:ext cx="6492240" cy="173735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Aptos"/>
              </a:defRPr>
            </a:pPr>
            <a:r>
              <a:t>How does delivery performance relate to customer reviews?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26280" y="3602736"/>
            <a:ext cx="6903720" cy="84124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26280" y="3602736"/>
            <a:ext cx="64008" cy="84124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0" y="3739896"/>
            <a:ext cx="64922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1">
                <a:solidFill>
                  <a:srgbClr val="CBD5E1"/>
                </a:solidFill>
                <a:latin typeface="Aptos"/>
              </a:defRPr>
            </a:pPr>
            <a:r>
              <a:t>QUESTION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4133087"/>
            <a:ext cx="6492240" cy="1737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Aptos"/>
              </a:defRPr>
            </a:pPr>
            <a:r>
              <a:t>Which customer states contribute the most revenue?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26280" y="4681728"/>
            <a:ext cx="6903720" cy="84124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26280" y="4681728"/>
            <a:ext cx="64008" cy="8412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0" y="4818888"/>
            <a:ext cx="64922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1">
                <a:solidFill>
                  <a:srgbClr val="CBD5E1"/>
                </a:solidFill>
                <a:latin typeface="Aptos"/>
              </a:defRPr>
            </a:pPr>
            <a:r>
              <a:t>QUESTION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5212080"/>
            <a:ext cx="6492240" cy="173735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Aptos"/>
              </a:defRPr>
            </a:pPr>
            <a:r>
              <a:t>Where are the key operational improvement opportunities?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700" b="1">
                <a:solidFill>
                  <a:srgbClr val="F8FAFC"/>
                </a:solidFill>
                <a:latin typeface="Aptos"/>
              </a:defRPr>
            </a:pPr>
            <a:r>
              <a:t>Data Preparation &amp;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69848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Aptos"/>
              </a:defRPr>
            </a:pPr>
            <a:r>
              <a:t>From raw Olist files to analysis-ready data</a:t>
            </a:r>
          </a:p>
        </p:txBody>
      </p:sp>
      <p:sp>
        <p:nvSpPr>
          <p:cNvPr id="5" name="Oval 4"/>
          <p:cNvSpPr/>
          <p:nvPr/>
        </p:nvSpPr>
        <p:spPr>
          <a:xfrm>
            <a:off x="566928" y="1600200"/>
            <a:ext cx="566928" cy="5669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755648"/>
            <a:ext cx="566928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F8FAFC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395728"/>
            <a:ext cx="19202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Collect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852928"/>
            <a:ext cx="1874519" cy="1234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Aptos"/>
              </a:defRPr>
            </a:pPr>
            <a:r>
              <a:t>9 related Olist CSV files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12848" y="1737360"/>
            <a:ext cx="4114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700" b="1">
                <a:solidFill>
                  <a:srgbClr val="CBD5E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Oval 9"/>
          <p:cNvSpPr/>
          <p:nvPr/>
        </p:nvSpPr>
        <p:spPr>
          <a:xfrm>
            <a:off x="2880360" y="1600200"/>
            <a:ext cx="566928" cy="566928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755648"/>
            <a:ext cx="566928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F8FAF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395728"/>
            <a:ext cx="19202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Clean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2852928"/>
            <a:ext cx="1874519" cy="1234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Aptos"/>
              </a:defRPr>
            </a:pPr>
            <a:r>
              <a:t>Missing values &amp; duplicate checks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1737360"/>
            <a:ext cx="4114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700" b="1">
                <a:solidFill>
                  <a:srgbClr val="CBD5E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Oval 14"/>
          <p:cNvSpPr/>
          <p:nvPr/>
        </p:nvSpPr>
        <p:spPr>
          <a:xfrm>
            <a:off x="5193792" y="1600200"/>
            <a:ext cx="566928" cy="566928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93792" y="1755648"/>
            <a:ext cx="566928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F8FAF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93792" y="2395728"/>
            <a:ext cx="19202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93792" y="2852928"/>
            <a:ext cx="1874519" cy="1234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Aptos"/>
              </a:defRPr>
            </a:pPr>
            <a:r>
              <a:t>Dates, delivery delay &amp; late-delivery fields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39712" y="1737360"/>
            <a:ext cx="4114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700" b="1">
                <a:solidFill>
                  <a:srgbClr val="CBD5E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Oval 19"/>
          <p:cNvSpPr/>
          <p:nvPr/>
        </p:nvSpPr>
        <p:spPr>
          <a:xfrm>
            <a:off x="7507223" y="1600200"/>
            <a:ext cx="566928" cy="566928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07223" y="1755648"/>
            <a:ext cx="566928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F8FAF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07223" y="2395728"/>
            <a:ext cx="19202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Join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07223" y="2852928"/>
            <a:ext cx="1874519" cy="1234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Aptos"/>
              </a:defRPr>
            </a:pPr>
            <a:r>
              <a:t>Orders + customers + products + sellers + reviews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53144" y="1737360"/>
            <a:ext cx="4114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700" b="1">
                <a:solidFill>
                  <a:srgbClr val="CBD5E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Oval 24"/>
          <p:cNvSpPr/>
          <p:nvPr/>
        </p:nvSpPr>
        <p:spPr>
          <a:xfrm>
            <a:off x="9820655" y="1600200"/>
            <a:ext cx="566928" cy="5669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0655" y="1755648"/>
            <a:ext cx="566928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900" b="1">
                <a:solidFill>
                  <a:srgbClr val="F8FAFC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20655" y="2395728"/>
            <a:ext cx="19202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600" b="1">
                <a:solidFill>
                  <a:srgbClr val="F8FAFC"/>
                </a:solidFill>
                <a:latin typeface="Aptos"/>
              </a:defRPr>
            </a:pPr>
            <a:r>
              <a:t>Analyze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0655" y="2852928"/>
            <a:ext cx="1874519" cy="1234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Aptos"/>
              </a:defRPr>
            </a:pPr>
            <a:r>
              <a:t>Revenue, reviews, delivery &amp; category metrics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572000"/>
            <a:ext cx="10698480" cy="102412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1520" y="4572000"/>
            <a:ext cx="64008" cy="10241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4709160"/>
            <a:ext cx="10287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1">
                <a:solidFill>
                  <a:srgbClr val="CBD5E1"/>
                </a:solidFill>
                <a:latin typeface="Aptos"/>
              </a:defRPr>
            </a:pPr>
            <a:r>
              <a:t>KEY CALCULATED FIELDS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5102352"/>
            <a:ext cx="10287000" cy="3566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Aptos"/>
              </a:defRPr>
            </a:pPr>
            <a:r>
              <a:t>Total order value • Delivery days • Estimated days • Delivery delay • Late delivery • Order month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700" b="1">
                <a:solidFill>
                  <a:srgbClr val="F8FAFC"/>
                </a:solidFill>
                <a:latin typeface="Aptos"/>
              </a:defRPr>
            </a:pPr>
            <a:r>
              <a:t>Key Business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69848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Aptos"/>
              </a:defRPr>
            </a:pPr>
            <a:r>
              <a:t>What the analysis tells management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383280" cy="166420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64008" cy="16642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1">
                <a:solidFill>
                  <a:srgbClr val="CBD5E1"/>
                </a:solidFill>
                <a:latin typeface="Aptos"/>
              </a:defRPr>
            </a:pPr>
            <a:r>
              <a:t>Health &amp; Beauty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01952"/>
            <a:ext cx="297180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200" b="1">
                <a:solidFill>
                  <a:srgbClr val="F8FAFC"/>
                </a:solidFill>
                <a:latin typeface="Aptos"/>
              </a:defRPr>
            </a:pPr>
            <a:r>
              <a:t>₹1.26M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59152"/>
            <a:ext cx="2971800" cy="5852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Aptos"/>
              </a:defRPr>
            </a:pPr>
            <a:r>
              <a:t>Highest category revenue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17320"/>
            <a:ext cx="3383280" cy="166420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417320"/>
            <a:ext cx="64008" cy="16642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554480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1">
                <a:solidFill>
                  <a:srgbClr val="CBD5E1"/>
                </a:solidFill>
                <a:latin typeface="Aptos"/>
              </a:defRPr>
            </a:pPr>
            <a:r>
              <a:t>Watches &amp; Gifts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1901952"/>
            <a:ext cx="297180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200" b="1">
                <a:solidFill>
                  <a:srgbClr val="F8FAFC"/>
                </a:solidFill>
                <a:latin typeface="Aptos"/>
              </a:defRPr>
            </a:pPr>
            <a:r>
              <a:t>₹1.21M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359152"/>
            <a:ext cx="2971800" cy="5852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Aptos"/>
              </a:defRPr>
            </a:pPr>
            <a:r>
              <a:t>Second-highest category revenue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417320"/>
            <a:ext cx="3383280" cy="166420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417320"/>
            <a:ext cx="64008" cy="16642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1554480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1">
                <a:solidFill>
                  <a:srgbClr val="CBD5E1"/>
                </a:solidFill>
                <a:latin typeface="Aptos"/>
              </a:defRPr>
            </a:pPr>
            <a:r>
              <a:t>São Paulo (SP)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1901952"/>
            <a:ext cx="297180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200" b="1">
                <a:solidFill>
                  <a:srgbClr val="F8FAFC"/>
                </a:solidFill>
                <a:latin typeface="Aptos"/>
              </a:defRPr>
            </a:pPr>
            <a:r>
              <a:t>₹5.20M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359152"/>
            <a:ext cx="2971800" cy="5852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Aptos"/>
              </a:defRPr>
            </a:pPr>
            <a:r>
              <a:t>Highest customer-state revenue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657600"/>
            <a:ext cx="3383280" cy="166420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3657600"/>
            <a:ext cx="64008" cy="16642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3794760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1">
                <a:solidFill>
                  <a:srgbClr val="CBD5E1"/>
                </a:solidFill>
                <a:latin typeface="Aptos"/>
              </a:defRPr>
            </a:pPr>
            <a:r>
              <a:t>Office Furniture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142232"/>
            <a:ext cx="297180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200" b="1">
                <a:solidFill>
                  <a:srgbClr val="F8FAFC"/>
                </a:solidFill>
                <a:latin typeface="Aptos"/>
              </a:defRPr>
            </a:pPr>
            <a:r>
              <a:t>7.87%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599432"/>
            <a:ext cx="2971800" cy="585215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Aptos"/>
              </a:defRPr>
            </a:pPr>
            <a:r>
              <a:t>Highest late-delivery rate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3657600"/>
            <a:ext cx="3383280" cy="166420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89120" y="3657600"/>
            <a:ext cx="64008" cy="16642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17720" y="3794760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1">
                <a:solidFill>
                  <a:srgbClr val="CBD5E1"/>
                </a:solidFill>
                <a:latin typeface="Aptos"/>
              </a:defRPr>
            </a:pPr>
            <a:r>
              <a:t>Bed &amp; Bath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4142232"/>
            <a:ext cx="297180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200" b="1">
                <a:solidFill>
                  <a:srgbClr val="F8FAFC"/>
                </a:solidFill>
                <a:latin typeface="Aptos"/>
              </a:defRPr>
            </a:pPr>
            <a:r>
              <a:t>3.90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4599432"/>
            <a:ext cx="2971800" cy="585215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Aptos"/>
              </a:defRPr>
            </a:pPr>
            <a:r>
              <a:t>High revenue, but comparatively lower average 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3675887"/>
            <a:ext cx="33832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1">
                <a:solidFill>
                  <a:srgbClr val="CBD5E1"/>
                </a:solidFill>
                <a:latin typeface="Aptos"/>
              </a:defRPr>
            </a:pPr>
            <a:r>
              <a:t>MANAGEMENT TAKEAWAY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4096512"/>
            <a:ext cx="324612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Aptos"/>
              </a:defRPr>
            </a:pPr>
            <a:r>
              <a:t>Protect high-revenue categories while improving delivery performance.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700" b="1">
                <a:solidFill>
                  <a:srgbClr val="F8FAFC"/>
                </a:solidFill>
                <a:latin typeface="Aptos"/>
              </a:defRPr>
            </a:pPr>
            <a:r>
              <a:t>Customer Experience &amp;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69848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Aptos"/>
              </a:defRPr>
            </a:pPr>
            <a:r>
              <a:t>Delivery performance is strongly associated with review outcomes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89888"/>
            <a:ext cx="3337560" cy="17830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389888"/>
            <a:ext cx="64008" cy="17830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27048"/>
            <a:ext cx="2926079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1">
                <a:solidFill>
                  <a:srgbClr val="CBD5E1"/>
                </a:solidFill>
                <a:latin typeface="Aptos"/>
              </a:defRPr>
            </a:pPr>
            <a:r>
              <a:t>LATE-DELIVERED ORDERS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2926079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200" b="1">
                <a:solidFill>
                  <a:srgbClr val="F8FAFC"/>
                </a:solidFill>
                <a:latin typeface="Aptos"/>
              </a:defRPr>
            </a:pPr>
            <a:r>
              <a:t>2.26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2926079" cy="7040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Aptos"/>
              </a:defRPr>
            </a:pPr>
            <a:r>
              <a:t>Average review score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389888"/>
            <a:ext cx="3337560" cy="17830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389888"/>
            <a:ext cx="64008" cy="17830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527048"/>
            <a:ext cx="2926079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1">
                <a:solidFill>
                  <a:srgbClr val="CBD5E1"/>
                </a:solidFill>
                <a:latin typeface="Aptos"/>
              </a:defRPr>
            </a:pPr>
            <a:r>
              <a:t>ON-TIME ORDERS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874519"/>
            <a:ext cx="2926079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200" b="1">
                <a:solidFill>
                  <a:srgbClr val="F8FAFC"/>
                </a:solidFill>
                <a:latin typeface="Aptos"/>
              </a:defRPr>
            </a:pPr>
            <a:r>
              <a:t>4.15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331720"/>
            <a:ext cx="2926079" cy="7040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Aptos"/>
              </a:defRPr>
            </a:pPr>
            <a:r>
              <a:t>Average review score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1389888"/>
            <a:ext cx="3611880" cy="17830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18120" y="1389888"/>
            <a:ext cx="64008" cy="17830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0" y="1527048"/>
            <a:ext cx="32004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1">
                <a:solidFill>
                  <a:srgbClr val="CBD5E1"/>
                </a:solidFill>
                <a:latin typeface="Aptos"/>
              </a:defRPr>
            </a:pPr>
            <a:r>
              <a:t>REVIEW GAP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1874519"/>
            <a:ext cx="320040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200" b="1">
                <a:solidFill>
                  <a:srgbClr val="F8FAFC"/>
                </a:solidFill>
                <a:latin typeface="Aptos"/>
              </a:defRPr>
            </a:pPr>
            <a:r>
              <a:t>~1.89 points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331720"/>
            <a:ext cx="3200400" cy="7040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Aptos"/>
              </a:defRPr>
            </a:pPr>
            <a:r>
              <a:t>Lower average review for late-delivered orders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584448"/>
            <a:ext cx="365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3584448"/>
            <a:ext cx="3246120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00" b="1">
                <a:solidFill>
                  <a:srgbClr val="F8FAFC"/>
                </a:solidFill>
                <a:latin typeface="Aptos"/>
              </a:defRPr>
            </a:pPr>
            <a:r>
              <a:t>Improve delivery performance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3584448"/>
            <a:ext cx="2788920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Aptos"/>
              </a:defRPr>
            </a:pPr>
            <a:r>
              <a:t>Operations / Logistics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800" y="3584448"/>
            <a:ext cx="3794760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Aptos"/>
              </a:defRPr>
            </a:pPr>
            <a:r>
              <a:t>Track late-delivery rate &amp; delivery 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352544"/>
            <a:ext cx="365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4352544"/>
            <a:ext cx="3246120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00" b="1">
                <a:solidFill>
                  <a:srgbClr val="F8FAFC"/>
                </a:solidFill>
                <a:latin typeface="Aptos"/>
              </a:defRPr>
            </a:pPr>
            <a:r>
              <a:t>Maintain inventory + targeted marketing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4352544"/>
            <a:ext cx="2788920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Aptos"/>
              </a:defRPr>
            </a:pPr>
            <a:r>
              <a:t>Commercial / Category Management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43800" y="4352544"/>
            <a:ext cx="3794760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Aptos"/>
              </a:defRPr>
            </a:pPr>
            <a:r>
              <a:t>Track category revenue &amp; order volume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120640"/>
            <a:ext cx="3657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5120640"/>
            <a:ext cx="3246120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00" b="1">
                <a:solidFill>
                  <a:srgbClr val="F8FAFC"/>
                </a:solidFill>
                <a:latin typeface="Aptos"/>
              </a:defRPr>
            </a:pPr>
            <a:r>
              <a:t>Investigate Bed &amp; Bath experience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5120640"/>
            <a:ext cx="2788920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Aptos"/>
              </a:defRPr>
            </a:pPr>
            <a:r>
              <a:t>Customer Experience / Operations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43800" y="5120640"/>
            <a:ext cx="3794760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Aptos"/>
              </a:defRPr>
            </a:pPr>
            <a:r>
              <a:t>Track average review &amp; complaints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700" b="1">
                <a:solidFill>
                  <a:srgbClr val="F8FAFC"/>
                </a:solidFill>
                <a:latin typeface="Aptos"/>
              </a:defRPr>
            </a:pPr>
            <a:r>
              <a:t>Dashboard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69848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Aptos"/>
              </a:defRPr>
            </a:pPr>
            <a:r>
              <a:t>Executive view built in Looker Studio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6400800" cy="45262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128016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800" b="1">
                <a:solidFill>
                  <a:srgbClr val="475569"/>
                </a:solidFill>
                <a:latin typeface="Aptos"/>
              </a:defRPr>
            </a:pPr>
            <a:r>
              <a:t>Revenue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10512"/>
            <a:ext cx="128016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Aptos"/>
              </a:defRPr>
            </a:pPr>
            <a:r>
              <a:t>13.59M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50008" y="1554480"/>
            <a:ext cx="128016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800" b="1">
                <a:solidFill>
                  <a:srgbClr val="475569"/>
                </a:solidFill>
                <a:latin typeface="Aptos"/>
              </a:defRPr>
            </a:pPr>
            <a:r>
              <a:t>Orders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50008" y="1810512"/>
            <a:ext cx="128016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Aptos"/>
              </a:defRPr>
            </a:pPr>
            <a:r>
              <a:t>98.7K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31336" y="1554480"/>
            <a:ext cx="128016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800" b="1">
                <a:solidFill>
                  <a:srgbClr val="475569"/>
                </a:solidFill>
                <a:latin typeface="Aptos"/>
              </a:defRPr>
            </a:pPr>
            <a:r>
              <a:t>AOV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31336" y="1810512"/>
            <a:ext cx="128016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Aptos"/>
              </a:defRPr>
            </a:pPr>
            <a:r>
              <a:t>137.75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12664" y="1554480"/>
            <a:ext cx="128016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800" b="1">
                <a:solidFill>
                  <a:srgbClr val="475569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12664" y="1810512"/>
            <a:ext cx="128016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Aptos"/>
              </a:defRPr>
            </a:pPr>
            <a:r>
              <a:t>4.03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395728"/>
            <a:ext cx="21945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1">
                <a:solidFill>
                  <a:srgbClr val="0F172A"/>
                </a:solidFill>
                <a:latin typeface="Aptos"/>
              </a:defRPr>
            </a:pPr>
            <a:r>
              <a:t>Monthly Revenue Trend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896112" y="4343400"/>
            <a:ext cx="521208" cy="91440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417320" y="4206240"/>
            <a:ext cx="521208" cy="137160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938528" y="4096512"/>
            <a:ext cx="521208" cy="109728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459736" y="4096512"/>
            <a:ext cx="521208" cy="91440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980944" y="3931920"/>
            <a:ext cx="521208" cy="256032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502152" y="3931920"/>
            <a:ext cx="521208" cy="109728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4023360" y="3657600"/>
            <a:ext cx="521208" cy="384048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544568" y="3657600"/>
            <a:ext cx="521208" cy="137160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5065776" y="3401568"/>
            <a:ext cx="521208" cy="393192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586984" y="3401568"/>
            <a:ext cx="521208" cy="182880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68680" y="4892040"/>
            <a:ext cx="20116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1">
                <a:solidFill>
                  <a:srgbClr val="0F172A"/>
                </a:solidFill>
                <a:latin typeface="Aptos"/>
              </a:defRPr>
            </a:pPr>
            <a:r>
              <a:t>Revenue by Category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0" y="4754880"/>
            <a:ext cx="384048" cy="777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37560" y="4818888"/>
            <a:ext cx="384048" cy="7132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931920" y="4910328"/>
            <a:ext cx="384048" cy="62179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26280" y="4956048"/>
            <a:ext cx="384048" cy="57607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120640" y="5020056"/>
            <a:ext cx="384048" cy="5120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406640" y="1417320"/>
            <a:ext cx="4023360" cy="1325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406640" y="1417320"/>
            <a:ext cx="64008" cy="13258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35240" y="1554480"/>
            <a:ext cx="36118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1">
                <a:solidFill>
                  <a:srgbClr val="CBD5E1"/>
                </a:solidFill>
                <a:latin typeface="Aptos"/>
              </a:defRPr>
            </a:pPr>
            <a:r>
              <a:t>DASHBOARD INCLUDES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35240" y="1947672"/>
            <a:ext cx="3611880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Aptos"/>
              </a:defRPr>
            </a:pPr>
            <a:r>
              <a:t>KPI summary • Monthly trend • Category analysis • Category filter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406640" y="2971800"/>
            <a:ext cx="402336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406640" y="2971800"/>
            <a:ext cx="64008" cy="18288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35240" y="3108960"/>
            <a:ext cx="36118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1">
                <a:solidFill>
                  <a:srgbClr val="CBD5E1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35240" y="3502152"/>
            <a:ext cx="3611880" cy="11612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Aptos"/>
              </a:defRPr>
            </a:pPr>
            <a:r>
              <a:t>Revenue is concentrated in a few categories and states. Delivery performance is a clear area for operational improvement.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406640" y="5029200"/>
            <a:ext cx="4023360" cy="8229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406640" y="5029200"/>
            <a:ext cx="64008" cy="8229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35240" y="5166360"/>
            <a:ext cx="36118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1">
                <a:solidFill>
                  <a:srgbClr val="CBD5E1"/>
                </a:solidFill>
                <a:latin typeface="Aptos"/>
              </a:defRPr>
            </a:pPr>
            <a:r>
              <a:t>ANALYTICAL CAUTION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35240" y="5559552"/>
            <a:ext cx="3611880" cy="15544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Aptos"/>
              </a:defRPr>
            </a:pPr>
            <a:r>
              <a:t>Late delivery is associated with lower reviews; this analysis does not prove causation.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